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0D9488"/>
    <a:srgbClr val="F0FDFA"/>
    <a:srgbClr val="EEF2FF"/>
    <a:srgbClr val="F5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08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474720" cy="3474720"/>
          </a:xfrm>
          <a:prstGeom prst="ellipse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-914400"/>
            <a:ext cx="2194560" cy="2194560"/>
          </a:xfrm>
          <a:prstGeom prst="ellipse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75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·  ASP.NET MVC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 smtClean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 </a:t>
            </a:r>
            <a:r>
              <a:rPr lang="en-US" sz="9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1234440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657600" y="1965960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Pattern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3657600" y="2907792"/>
            <a:ext cx="2560320" cy="22860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0358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327355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S.R. Shuva Dev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Why do we need this pattern?</a:t>
            </a:r>
            <a:endParaRPr lang="en-US" sz="3200" dirty="0">
              <a:latin typeface="Bahnschrift SemiBold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39956"/>
            <a:ext cx="8138160" cy="10973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7606"/>
            <a:ext cx="8138160" cy="804672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  <a:effectLst>
            <a:outerShdw blurRad="101600" dist="25400" dir="9000000" algn="bl" rotWithShape="0">
              <a:srgbClr val="1A1A2E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41904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Without the pattern </a:t>
            </a:r>
            <a:r>
              <a:rPr lang="en-US" sz="1400" b="1" dirty="0" smtClean="0">
                <a:solidFill>
                  <a:srgbClr val="DC262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b="1" dirty="0">
                <a:solidFill>
                  <a:srgbClr val="DC262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mismatched components</a:t>
            </a:r>
            <a:endParaRPr lang="en-US" sz="1400" dirty="0">
              <a:latin typeface="Bahnschrift SemiBold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170158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You can accidentally create a DarkButton paired with a </a:t>
            </a:r>
            <a:r>
              <a:rPr lang="en-US" sz="1250" dirty="0" err="1">
                <a:solidFill>
                  <a:srgbClr val="7F1D1D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LightCheckbox</a:t>
            </a:r>
            <a:r>
              <a:rPr lang="en-US" sz="1250" dirty="0">
                <a:solidFill>
                  <a:srgbClr val="7F1D1D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smtClean="0">
                <a:solidFill>
                  <a:srgbClr val="7F1D1D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50" dirty="0">
                <a:solidFill>
                  <a:srgbClr val="7F1D1D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inconsistent UI with no compile-time protection</a:t>
            </a: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3794760" cy="1828800"/>
          </a:xfrm>
          <a:prstGeom prst="roundRect">
            <a:avLst>
              <a:gd name="adj" fmla="val 5000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514600"/>
            <a:ext cx="3794760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606040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2606040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2606040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25694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9174" y="3016060"/>
            <a:ext cx="34747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// </a:t>
            </a:r>
            <a:r>
              <a:rPr lang="en-US" sz="1100" dirty="0" smtClean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No </a:t>
            </a:r>
            <a:r>
              <a:rPr lang="en-US" sz="11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guarantee of consistency
</a:t>
            </a:r>
            <a:r>
              <a:rPr lang="en-US" sz="11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var </a:t>
            </a:r>
            <a:r>
              <a:rPr lang="en-US" sz="11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btn </a:t>
            </a:r>
            <a:r>
              <a:rPr lang="en-US" sz="11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= new </a:t>
            </a:r>
            <a:r>
              <a:rPr lang="en-US" sz="1100" dirty="0">
                <a:solidFill>
                  <a:srgbClr val="DC262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DarkButton</a:t>
            </a:r>
            <a:r>
              <a:rPr lang="en-US" sz="1100" dirty="0">
                <a:solidFill>
                  <a:srgbClr val="3D3D5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();
</a:t>
            </a:r>
            <a:r>
              <a:rPr lang="en-US" sz="11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var </a:t>
            </a:r>
            <a:r>
              <a:rPr lang="en-US" sz="11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chk </a:t>
            </a:r>
            <a:r>
              <a:rPr lang="en-US" sz="11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= new </a:t>
            </a:r>
            <a:r>
              <a:rPr lang="en-US" sz="1100" dirty="0">
                <a:solidFill>
                  <a:srgbClr val="DC262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LightCheckbox</a:t>
            </a:r>
            <a:r>
              <a:rPr lang="en-US" sz="1100" dirty="0">
                <a:solidFill>
                  <a:srgbClr val="3D3D5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();
</a:t>
            </a:r>
            <a:r>
              <a:rPr lang="en-US" sz="11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// Dark button + Light checkbox
</a:t>
            </a:r>
            <a:r>
              <a:rPr lang="en-US" sz="1100" dirty="0">
                <a:solidFill>
                  <a:srgbClr val="DC262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// = broken, mismatched </a:t>
            </a:r>
            <a:r>
              <a:rPr lang="en-US" sz="1100" dirty="0" smtClean="0">
                <a:solidFill>
                  <a:srgbClr val="DC262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UI</a:t>
            </a:r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0" y="2507974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  <a:effectLst>
            <a:outerShdw blurRad="101600" dist="25400" dir="9000000" algn="bl" rotWithShape="0">
              <a:srgbClr val="1A1A2E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651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Abstract Factory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3035808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96610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5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Factory guarantees matched components</a:t>
            </a:r>
            <a:endParaRPr lang="en-US" sz="1250" dirty="0">
              <a:latin typeface="Bahnschrift SemiBold" panose="020B0502040204020203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00600" y="334670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283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5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Dark factory → only Dark products</a:t>
            </a:r>
          </a:p>
        </p:txBody>
      </p:sp>
      <p:sp>
        <p:nvSpPr>
          <p:cNvPr id="23" name="Shape 21"/>
          <p:cNvSpPr/>
          <p:nvPr/>
        </p:nvSpPr>
        <p:spPr>
          <a:xfrm>
            <a:off x="4800600" y="365760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59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3D3D5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Light factory → only Light products</a:t>
            </a:r>
          </a:p>
        </p:txBody>
      </p:sp>
      <p:sp>
        <p:nvSpPr>
          <p:cNvPr id="25" name="Shape 23"/>
          <p:cNvSpPr/>
          <p:nvPr/>
        </p:nvSpPr>
        <p:spPr>
          <a:xfrm>
            <a:off x="4800600" y="3968496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905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5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One line change switches the whole app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What the pattern does in one sentence.</a:t>
            </a:r>
            <a:endParaRPr lang="en-US" sz="3200" dirty="0">
              <a:latin typeface="Bahnschrift SemiBold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73086"/>
            <a:ext cx="8138160" cy="10973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67361"/>
            <a:ext cx="8138160" cy="1078992"/>
          </a:xfrm>
          <a:prstGeom prst="roundRect">
            <a:avLst>
              <a:gd name="adj" fmla="val 8475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  <a:effectLst>
            <a:outerShdw blurRad="101600" dist="25400" dir="9000000" algn="bl" rotWithShape="0">
              <a:srgbClr val="1A1A2E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486233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F46E5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"Provide an interface for creating families of related objects without specifying their concrete classes."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2662364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772092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72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2567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Factory of Factories</a:t>
            </a:r>
            <a:endParaRPr lang="en-US" sz="1300" dirty="0">
              <a:latin typeface="Bahnschrift SemiBold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649916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3D5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One object creates other objects </a:t>
            </a:r>
            <a:r>
              <a:rPr lang="en-US" sz="1200" dirty="0" smtClean="0">
                <a:solidFill>
                  <a:srgbClr val="3D3D5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3D3D5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always as a matched, consistent family.</a:t>
            </a:r>
            <a:endParaRPr lang="en-US" sz="1200" dirty="0">
              <a:latin typeface="Bahnschrift SemiBold" panose="020B05020402040202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46120" y="2662364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277209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772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32567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Families Stay Together</a:t>
            </a:r>
            <a:endParaRPr lang="en-US" sz="1300" dirty="0">
              <a:latin typeface="Bahnschrift SemiBold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29000" y="3649916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3D5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Dark button always pairs with Dark checkbox. Light with Light. Never mixed.</a:t>
            </a:r>
            <a:endParaRPr lang="en-US" sz="1200" dirty="0">
              <a:latin typeface="Bahnschrift SemiBold" panose="020B050204020402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89320" y="2662364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2772092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772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32567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Swap in One Line</a:t>
            </a:r>
            <a:endParaRPr lang="en-US" sz="1300" dirty="0">
              <a:latin typeface="Bahnschrift SemiBold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72200" y="3649916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3D56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Change the factory in Program.cs and the whole app updates instantly.</a:t>
            </a:r>
            <a:endParaRPr lang="en-US" sz="1200" dirty="0"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87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96294" y="21137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How all the pieces connect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835159"/>
            <a:ext cx="8138160" cy="10973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grpSp>
        <p:nvGrpSpPr>
          <p:cNvPr id="98" name="Group 97"/>
          <p:cNvGrpSpPr/>
          <p:nvPr/>
        </p:nvGrpSpPr>
        <p:grpSpPr>
          <a:xfrm>
            <a:off x="1377589" y="2198693"/>
            <a:ext cx="927652" cy="392305"/>
            <a:chOff x="1476824" y="2107560"/>
            <a:chExt cx="927652" cy="357544"/>
          </a:xfrm>
        </p:grpSpPr>
        <p:sp>
          <p:nvSpPr>
            <p:cNvPr id="18" name="Shape 16"/>
            <p:cNvSpPr/>
            <p:nvPr/>
          </p:nvSpPr>
          <p:spPr>
            <a:xfrm>
              <a:off x="1476824" y="2107560"/>
              <a:ext cx="927652" cy="357544"/>
            </a:xfrm>
            <a:prstGeom prst="roundRect">
              <a:avLst>
                <a:gd name="adj" fmla="val 17241"/>
              </a:avLst>
            </a:prstGeom>
            <a:solidFill>
              <a:srgbClr val="F0FDFA"/>
            </a:solidFill>
            <a:ln w="12700">
              <a:solidFill>
                <a:srgbClr val="5EEAD4"/>
              </a:solidFill>
              <a:prstDash val="solid"/>
            </a:ln>
            <a:effectLst>
              <a:outerShdw blurRad="101600" dist="25400" dir="9000000" algn="bl" rotWithShape="0">
                <a:srgbClr val="1A1A2E">
                  <a:alpha val="5000"/>
                </a:srgbClr>
              </a:outerShdw>
            </a:effectLst>
          </p:spPr>
        </p:sp>
        <p:sp>
          <p:nvSpPr>
            <p:cNvPr id="19" name="Text 17"/>
            <p:cNvSpPr/>
            <p:nvPr/>
          </p:nvSpPr>
          <p:spPr>
            <a:xfrm>
              <a:off x="1495375" y="2127438"/>
              <a:ext cx="882597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DarkButton</a:t>
              </a:r>
              <a:endParaRPr lang="en-US" sz="1000" dirty="0">
                <a:latin typeface="Bahnschrift" panose="020B0502040204020203" pitchFamily="34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95745" y="2196879"/>
            <a:ext cx="914400" cy="394120"/>
            <a:chOff x="264250" y="2104280"/>
            <a:chExt cx="914400" cy="394120"/>
          </a:xfrm>
        </p:grpSpPr>
        <p:sp>
          <p:nvSpPr>
            <p:cNvPr id="22" name="Shape 20"/>
            <p:cNvSpPr/>
            <p:nvPr/>
          </p:nvSpPr>
          <p:spPr>
            <a:xfrm>
              <a:off x="264250" y="2104280"/>
              <a:ext cx="914400" cy="394120"/>
            </a:xfrm>
            <a:prstGeom prst="roundRect">
              <a:avLst>
                <a:gd name="adj" fmla="val 17241"/>
              </a:avLst>
            </a:prstGeom>
            <a:solidFill>
              <a:srgbClr val="F5F3FF"/>
            </a:solidFill>
            <a:ln w="12700">
              <a:solidFill>
                <a:srgbClr val="DDD6FE"/>
              </a:solidFill>
              <a:prstDash val="solid"/>
            </a:ln>
            <a:effectLst>
              <a:outerShdw blurRad="101600" dist="25400" dir="9000000" algn="bl" rotWithShape="0">
                <a:srgbClr val="1A1A2E">
                  <a:alpha val="5000"/>
                </a:srgbClr>
              </a:outerShdw>
            </a:effectLst>
          </p:spPr>
        </p:sp>
        <p:sp>
          <p:nvSpPr>
            <p:cNvPr id="23" name="Text 21"/>
            <p:cNvSpPr/>
            <p:nvPr/>
          </p:nvSpPr>
          <p:spPr>
            <a:xfrm>
              <a:off x="316593" y="2147482"/>
              <a:ext cx="82229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LightButton</a:t>
              </a:r>
              <a:endParaRPr lang="en-US" sz="1000" dirty="0">
                <a:latin typeface="Bahnschrift" panose="020B0502040204020203" pitchFamily="34" charset="0"/>
              </a:endParaRP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1450973" y="4182956"/>
            <a:ext cx="981822" cy="403496"/>
            <a:chOff x="1450973" y="4131372"/>
            <a:chExt cx="981822" cy="357544"/>
          </a:xfrm>
        </p:grpSpPr>
        <p:sp>
          <p:nvSpPr>
            <p:cNvPr id="51" name="Shape 16"/>
            <p:cNvSpPr/>
            <p:nvPr/>
          </p:nvSpPr>
          <p:spPr>
            <a:xfrm>
              <a:off x="1450973" y="4131372"/>
              <a:ext cx="981822" cy="357544"/>
            </a:xfrm>
            <a:prstGeom prst="roundRect">
              <a:avLst>
                <a:gd name="adj" fmla="val 17241"/>
              </a:avLst>
            </a:prstGeom>
            <a:solidFill>
              <a:srgbClr val="F0FDFA"/>
            </a:solidFill>
            <a:ln w="12700">
              <a:solidFill>
                <a:srgbClr val="5EEAD4"/>
              </a:solidFill>
              <a:prstDash val="solid"/>
            </a:ln>
            <a:effectLst>
              <a:outerShdw blurRad="101600" dist="25400" dir="9000000" algn="bl" rotWithShape="0">
                <a:srgbClr val="1A1A2E">
                  <a:alpha val="5000"/>
                </a:srgbClr>
              </a:outerShdw>
            </a:effectLst>
          </p:spPr>
        </p:sp>
        <p:sp>
          <p:nvSpPr>
            <p:cNvPr id="52" name="Text 17"/>
            <p:cNvSpPr/>
            <p:nvPr/>
          </p:nvSpPr>
          <p:spPr>
            <a:xfrm>
              <a:off x="1469524" y="4151250"/>
              <a:ext cx="93495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 err="1" smtClean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DarkCheckbox</a:t>
              </a:r>
              <a:endParaRPr lang="en-US" sz="1000" dirty="0">
                <a:latin typeface="Bahnschrift" panose="020B0502040204020203" pitchFamily="34" charset="0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110003" y="4182956"/>
            <a:ext cx="1042796" cy="394120"/>
            <a:chOff x="264250" y="2104280"/>
            <a:chExt cx="914400" cy="394120"/>
          </a:xfrm>
        </p:grpSpPr>
        <p:sp>
          <p:nvSpPr>
            <p:cNvPr id="54" name="Shape 20"/>
            <p:cNvSpPr/>
            <p:nvPr/>
          </p:nvSpPr>
          <p:spPr>
            <a:xfrm>
              <a:off x="264250" y="2104280"/>
              <a:ext cx="914400" cy="394120"/>
            </a:xfrm>
            <a:prstGeom prst="roundRect">
              <a:avLst>
                <a:gd name="adj" fmla="val 17241"/>
              </a:avLst>
            </a:prstGeom>
            <a:solidFill>
              <a:srgbClr val="F5F3FF"/>
            </a:solidFill>
            <a:ln w="12700">
              <a:solidFill>
                <a:srgbClr val="DDD6FE"/>
              </a:solidFill>
              <a:prstDash val="solid"/>
            </a:ln>
            <a:effectLst>
              <a:outerShdw blurRad="101600" dist="25400" dir="9000000" algn="bl" rotWithShape="0">
                <a:srgbClr val="1A1A2E">
                  <a:alpha val="5000"/>
                </a:srgbClr>
              </a:outerShdw>
            </a:effectLst>
          </p:spPr>
        </p:sp>
        <p:sp>
          <p:nvSpPr>
            <p:cNvPr id="55" name="Text 21"/>
            <p:cNvSpPr/>
            <p:nvPr/>
          </p:nvSpPr>
          <p:spPr>
            <a:xfrm>
              <a:off x="316593" y="2147482"/>
              <a:ext cx="82229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 err="1" smtClean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LightCheckbox</a:t>
              </a:r>
              <a:endParaRPr lang="en-US" sz="1000" dirty="0">
                <a:latin typeface="Bahnschrift" panose="020B0502040204020203" pitchFamily="34" charset="0"/>
              </a:endParaRPr>
            </a:p>
          </p:txBody>
        </p:sp>
      </p:grpSp>
      <p:cxnSp>
        <p:nvCxnSpPr>
          <p:cNvPr id="57" name="Elbow Connector 56"/>
          <p:cNvCxnSpPr>
            <a:stCxn id="22" idx="0"/>
            <a:endCxn id="114" idx="2"/>
          </p:cNvCxnSpPr>
          <p:nvPr/>
        </p:nvCxnSpPr>
        <p:spPr>
          <a:xfrm rot="5400000" flipH="1" flipV="1">
            <a:off x="667986" y="1633980"/>
            <a:ext cx="447858" cy="677940"/>
          </a:xfrm>
          <a:prstGeom prst="bentConnector3">
            <a:avLst>
              <a:gd name="adj1" fmla="val 3809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74" name="Group 73"/>
          <p:cNvGrpSpPr/>
          <p:nvPr/>
        </p:nvGrpSpPr>
        <p:grpSpPr>
          <a:xfrm>
            <a:off x="4231696" y="1047450"/>
            <a:ext cx="3017520" cy="1535200"/>
            <a:chOff x="5029200" y="1115668"/>
            <a:chExt cx="3017520" cy="1535200"/>
          </a:xfrm>
        </p:grpSpPr>
        <p:sp>
          <p:nvSpPr>
            <p:cNvPr id="72" name="Shape 3"/>
            <p:cNvSpPr/>
            <p:nvPr/>
          </p:nvSpPr>
          <p:spPr>
            <a:xfrm>
              <a:off x="5029200" y="1567349"/>
              <a:ext cx="3017520" cy="1083519"/>
            </a:xfrm>
            <a:prstGeom prst="rect">
              <a:avLst/>
            </a:prstGeom>
            <a:solidFill>
              <a:srgbClr val="EEF2FF"/>
            </a:solidFill>
            <a:ln w="19050">
              <a:solidFill>
                <a:srgbClr val="A5B4FC"/>
              </a:solidFill>
              <a:prstDash val="solid"/>
            </a:ln>
            <a:effectLst>
              <a:outerShdw blurRad="101600" dist="25400" dir="9000000" algn="bl" rotWithShape="0">
                <a:srgbClr val="1A1A2E">
                  <a:alpha val="5000"/>
                </a:srgbClr>
              </a:outerShdw>
            </a:effectLst>
          </p:spPr>
        </p:sp>
        <p:sp>
          <p:nvSpPr>
            <p:cNvPr id="62" name="Shape 3"/>
            <p:cNvSpPr/>
            <p:nvPr/>
          </p:nvSpPr>
          <p:spPr>
            <a:xfrm>
              <a:off x="5029200" y="1115668"/>
              <a:ext cx="3017520" cy="640080"/>
            </a:xfrm>
            <a:prstGeom prst="rect">
              <a:avLst/>
            </a:prstGeom>
            <a:solidFill>
              <a:srgbClr val="EEF2FF"/>
            </a:solidFill>
            <a:ln w="19050">
              <a:solidFill>
                <a:srgbClr val="A5B4FC"/>
              </a:solidFill>
              <a:prstDash val="solid"/>
            </a:ln>
            <a:effectLst>
              <a:outerShdw blurRad="101600" dist="25400" dir="9000000" algn="bl" rotWithShape="0">
                <a:srgbClr val="1A1A2E">
                  <a:alpha val="5000"/>
                </a:srgbClr>
              </a:outerShdw>
            </a:effectLst>
          </p:spPr>
        </p:sp>
        <p:sp>
          <p:nvSpPr>
            <p:cNvPr id="63" name="Text 4"/>
            <p:cNvSpPr/>
            <p:nvPr/>
          </p:nvSpPr>
          <p:spPr>
            <a:xfrm>
              <a:off x="5029200" y="1170532"/>
              <a:ext cx="3017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4F46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«interface»</a:t>
              </a:r>
              <a:endParaRPr lang="en-US" sz="900" dirty="0"/>
            </a:p>
          </p:txBody>
        </p:sp>
        <p:sp>
          <p:nvSpPr>
            <p:cNvPr id="64" name="Text 5"/>
            <p:cNvSpPr/>
            <p:nvPr/>
          </p:nvSpPr>
          <p:spPr>
            <a:xfrm>
              <a:off x="5029200" y="1335124"/>
              <a:ext cx="30175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A1A2E"/>
                  </a:solidFill>
                  <a:latin typeface="Bahnschrift SemiBold" panose="020B0502040204020203" pitchFamily="34" charset="0"/>
                  <a:ea typeface="Calibri" pitchFamily="34" charset="-122"/>
                  <a:cs typeface="Calibri" pitchFamily="34" charset="-120"/>
                </a:rPr>
                <a:t>IThemeFactory</a:t>
              </a:r>
              <a:endParaRPr lang="en-US" sz="15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056799" y="1792371"/>
              <a:ext cx="2597186" cy="6924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b="1" dirty="0" smtClean="0">
                  <a:solidFill>
                    <a:srgbClr val="0070C0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+ </a:t>
              </a:r>
              <a:r>
                <a:rPr lang="en-US" sz="1300" b="1" dirty="0" err="1" smtClean="0">
                  <a:solidFill>
                    <a:srgbClr val="0070C0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CreateButton</a:t>
              </a:r>
              <a:r>
                <a:rPr lang="en-US" sz="1300" b="1" dirty="0">
                  <a:solidFill>
                    <a:srgbClr val="0070C0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() </a:t>
              </a:r>
              <a:r>
                <a:rPr lang="en-US" sz="1300" b="1" dirty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: </a:t>
              </a:r>
              <a:r>
                <a:rPr lang="en-US" sz="1300" b="1" dirty="0" err="1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IButton</a:t>
              </a:r>
              <a:r>
                <a:rPr lang="en-US" sz="1300" b="1" dirty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r>
                <a:rPr lang="en-US" sz="1300" b="1" dirty="0">
                  <a:solidFill>
                    <a:srgbClr val="0070C0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+ </a:t>
              </a:r>
              <a:r>
                <a:rPr lang="en-US" sz="1300" b="1" dirty="0" err="1">
                  <a:solidFill>
                    <a:srgbClr val="0070C0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CreateCheckbox</a:t>
              </a:r>
              <a:r>
                <a:rPr lang="en-US" sz="1300" b="1" dirty="0">
                  <a:solidFill>
                    <a:srgbClr val="0070C0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()</a:t>
              </a:r>
              <a:r>
                <a:rPr lang="en-US" sz="1300" b="1" dirty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: </a:t>
              </a:r>
              <a:r>
                <a:rPr lang="en-US" sz="1300" b="1" dirty="0" err="1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ICheckbox</a:t>
              </a:r>
              <a:r>
                <a:rPr lang="en-US" sz="1300" b="1" dirty="0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r>
                <a:rPr lang="en-US" sz="1300" b="1" dirty="0">
                  <a:solidFill>
                    <a:srgbClr val="0070C0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+ </a:t>
              </a:r>
              <a:r>
                <a:rPr lang="en-US" sz="1300" b="1" dirty="0" err="1">
                  <a:solidFill>
                    <a:srgbClr val="0070C0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ThemeName</a:t>
              </a:r>
              <a:r>
                <a:rPr lang="en-US" sz="1300" b="1" dirty="0">
                  <a:solidFill>
                    <a:srgbClr val="0070C0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300" b="1" dirty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:</a:t>
              </a:r>
              <a:r>
                <a:rPr lang="en-US" sz="1300" b="1" dirty="0" smtClean="0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300" b="1" dirty="0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string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2683634" y="3251634"/>
            <a:ext cx="3096125" cy="1441977"/>
            <a:chOff x="5029200" y="1035749"/>
            <a:chExt cx="3017520" cy="1500642"/>
          </a:xfrm>
          <a:solidFill>
            <a:srgbClr val="F5F3FF"/>
          </a:solidFill>
        </p:grpSpPr>
        <p:sp>
          <p:nvSpPr>
            <p:cNvPr id="76" name="Shape 3"/>
            <p:cNvSpPr/>
            <p:nvPr/>
          </p:nvSpPr>
          <p:spPr>
            <a:xfrm>
              <a:off x="5029200" y="1452873"/>
              <a:ext cx="3017520" cy="1083518"/>
            </a:xfrm>
            <a:prstGeom prst="rect">
              <a:avLst/>
            </a:prstGeom>
            <a:grpFill/>
            <a:ln w="19050">
              <a:solidFill>
                <a:srgbClr val="A5B4FC"/>
              </a:solidFill>
              <a:prstDash val="solid"/>
            </a:ln>
            <a:effectLst>
              <a:outerShdw blurRad="101600" dist="25400" dir="9000000" algn="bl" rotWithShape="0">
                <a:srgbClr val="1A1A2E">
                  <a:alpha val="5000"/>
                </a:srgbClr>
              </a:outerShdw>
            </a:effectLst>
          </p:spPr>
        </p:sp>
        <p:sp>
          <p:nvSpPr>
            <p:cNvPr id="77" name="Shape 3"/>
            <p:cNvSpPr/>
            <p:nvPr/>
          </p:nvSpPr>
          <p:spPr>
            <a:xfrm>
              <a:off x="5029200" y="1035749"/>
              <a:ext cx="3017520" cy="411766"/>
            </a:xfrm>
            <a:prstGeom prst="rect">
              <a:avLst/>
            </a:prstGeom>
            <a:grpFill/>
            <a:ln w="19050">
              <a:solidFill>
                <a:srgbClr val="A5B4FC"/>
              </a:solidFill>
              <a:prstDash val="solid"/>
            </a:ln>
            <a:effectLst>
              <a:outerShdw blurRad="101600" dist="25400" dir="9000000" algn="bl" rotWithShape="0">
                <a:srgbClr val="1A1A2E">
                  <a:alpha val="5000"/>
                </a:srgbClr>
              </a:outerShdw>
            </a:effectLst>
          </p:spPr>
        </p:sp>
        <p:sp>
          <p:nvSpPr>
            <p:cNvPr id="80" name="TextBox 79"/>
            <p:cNvSpPr txBox="1"/>
            <p:nvPr/>
          </p:nvSpPr>
          <p:spPr>
            <a:xfrm>
              <a:off x="5056800" y="1592039"/>
              <a:ext cx="2931324" cy="72067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300" b="1" dirty="0" smtClean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+ </a:t>
              </a:r>
              <a:r>
                <a:rPr lang="en-US" sz="1300" b="1" dirty="0" err="1" smtClean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CreateButton</a:t>
              </a:r>
              <a:r>
                <a:rPr lang="en-US" sz="1300" b="1" dirty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() : </a:t>
              </a:r>
              <a:r>
                <a:rPr lang="en-US" sz="1300" b="1" dirty="0" err="1" smtClean="0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LightButton</a:t>
              </a:r>
              <a:r>
                <a:rPr lang="en-US" sz="1300" b="1" dirty="0" smtClean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300" b="1" dirty="0">
                <a:solidFill>
                  <a:srgbClr val="7C3AED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300" b="1" dirty="0" smtClean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+ </a:t>
              </a:r>
              <a:r>
                <a:rPr lang="en-US" sz="1300" b="1" dirty="0" err="1" smtClean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CreateCheckbox</a:t>
              </a:r>
              <a:r>
                <a:rPr lang="en-US" sz="1300" b="1" dirty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() </a:t>
              </a:r>
              <a:r>
                <a:rPr lang="en-US" sz="1300" b="1" dirty="0" smtClean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: </a:t>
              </a:r>
              <a:r>
                <a:rPr lang="en-US" sz="1300" b="1" dirty="0" err="1" smtClean="0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LightCheckbox</a:t>
              </a:r>
              <a:r>
                <a:rPr lang="en-US" sz="1300" b="1" dirty="0" smtClean="0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300" b="1" dirty="0">
                <a:solidFill>
                  <a:schemeClr val="accent2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300" b="1" dirty="0" smtClean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+ </a:t>
              </a:r>
              <a:r>
                <a:rPr lang="en-US" sz="1300" b="1" dirty="0" err="1" smtClean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ThemeName</a:t>
              </a:r>
              <a:r>
                <a:rPr lang="en-US" sz="1300" b="1" dirty="0" smtClean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300" b="1" dirty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:</a:t>
              </a:r>
              <a:r>
                <a:rPr lang="en-US" sz="1300" b="1" dirty="0" smtClean="0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“Light”</a:t>
              </a:r>
              <a:endParaRPr lang="en-US" sz="1300" b="1" dirty="0">
                <a:solidFill>
                  <a:schemeClr val="accent2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79" name="Text 5"/>
            <p:cNvSpPr/>
            <p:nvPr/>
          </p:nvSpPr>
          <p:spPr>
            <a:xfrm>
              <a:off x="5070744" y="1063237"/>
              <a:ext cx="2917380" cy="310896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 err="1"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LightThemeFactory</a:t>
              </a:r>
              <a:endParaRPr lang="en-US" sz="1600" b="1" dirty="0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5932160" y="3251634"/>
            <a:ext cx="3096125" cy="1441977"/>
            <a:chOff x="5029200" y="1035749"/>
            <a:chExt cx="3017520" cy="1500642"/>
          </a:xfrm>
          <a:solidFill>
            <a:srgbClr val="F0FDFA"/>
          </a:solidFill>
        </p:grpSpPr>
        <p:sp>
          <p:nvSpPr>
            <p:cNvPr id="82" name="Shape 3"/>
            <p:cNvSpPr/>
            <p:nvPr/>
          </p:nvSpPr>
          <p:spPr>
            <a:xfrm>
              <a:off x="5029200" y="1452873"/>
              <a:ext cx="3017520" cy="1083518"/>
            </a:xfrm>
            <a:prstGeom prst="rect">
              <a:avLst/>
            </a:prstGeom>
            <a:grpFill/>
            <a:ln w="19050">
              <a:solidFill>
                <a:srgbClr val="A5B4FC"/>
              </a:solidFill>
              <a:prstDash val="solid"/>
            </a:ln>
            <a:effectLst>
              <a:outerShdw blurRad="101600" dist="25400" dir="9000000" algn="bl" rotWithShape="0">
                <a:srgbClr val="1A1A2E">
                  <a:alpha val="5000"/>
                </a:srgbClr>
              </a:outerShdw>
            </a:effectLst>
          </p:spPr>
        </p:sp>
        <p:sp>
          <p:nvSpPr>
            <p:cNvPr id="83" name="Shape 3"/>
            <p:cNvSpPr/>
            <p:nvPr/>
          </p:nvSpPr>
          <p:spPr>
            <a:xfrm>
              <a:off x="5029200" y="1035749"/>
              <a:ext cx="3017520" cy="411766"/>
            </a:xfrm>
            <a:prstGeom prst="rect">
              <a:avLst/>
            </a:prstGeom>
            <a:grpFill/>
            <a:ln w="19050">
              <a:solidFill>
                <a:srgbClr val="A5B4FC"/>
              </a:solidFill>
              <a:prstDash val="solid"/>
            </a:ln>
            <a:effectLst>
              <a:outerShdw blurRad="101600" dist="25400" dir="9000000" algn="bl" rotWithShape="0">
                <a:srgbClr val="1A1A2E">
                  <a:alpha val="5000"/>
                </a:srgbClr>
              </a:outerShdw>
            </a:effectLst>
          </p:spPr>
        </p:sp>
        <p:sp>
          <p:nvSpPr>
            <p:cNvPr id="84" name="TextBox 83"/>
            <p:cNvSpPr txBox="1"/>
            <p:nvPr/>
          </p:nvSpPr>
          <p:spPr>
            <a:xfrm>
              <a:off x="5056800" y="1592039"/>
              <a:ext cx="2931324" cy="72067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300" b="1" dirty="0" smtClean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+ </a:t>
              </a:r>
              <a:r>
                <a:rPr lang="en-US" sz="1300" b="1" dirty="0" err="1" smtClean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CreateButton</a:t>
              </a:r>
              <a:r>
                <a:rPr lang="en-US" sz="1300" b="1" dirty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() : </a:t>
              </a:r>
              <a:r>
                <a:rPr lang="en-US" sz="1300" b="1" dirty="0" err="1" smtClean="0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DarkButton</a:t>
              </a:r>
              <a:r>
                <a:rPr lang="en-US" sz="1300" b="1" dirty="0" smtClean="0">
                  <a:solidFill>
                    <a:srgbClr val="7C3AED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300" b="1" dirty="0">
                <a:solidFill>
                  <a:srgbClr val="7C3AED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300" b="1" dirty="0" smtClean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+ </a:t>
              </a:r>
              <a:r>
                <a:rPr lang="en-US" sz="1300" b="1" dirty="0" err="1" smtClean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CreateCheckbox</a:t>
              </a:r>
              <a:r>
                <a:rPr lang="en-US" sz="1300" b="1" dirty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() : </a:t>
              </a:r>
              <a:r>
                <a:rPr lang="en-US" sz="1300" b="1" dirty="0" err="1" smtClean="0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DarkCheckbox</a:t>
              </a:r>
              <a:r>
                <a:rPr lang="en-US" sz="1300" b="1" dirty="0" smtClean="0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300" b="1" dirty="0">
                <a:solidFill>
                  <a:schemeClr val="accent2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300" b="1" dirty="0" smtClean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+ </a:t>
              </a:r>
              <a:r>
                <a:rPr lang="en-US" sz="1300" b="1" dirty="0" err="1" smtClean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ThemeName</a:t>
              </a:r>
              <a:r>
                <a:rPr lang="en-US" sz="1300" b="1" dirty="0" smtClean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300" b="1" dirty="0">
                  <a:solidFill>
                    <a:srgbClr val="0D9488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: </a:t>
              </a:r>
              <a:r>
                <a:rPr lang="en-US" sz="1300" b="1" dirty="0" smtClean="0">
                  <a:solidFill>
                    <a:schemeClr val="accent2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“Dark”</a:t>
              </a:r>
              <a:endParaRPr lang="en-US" sz="1300" b="1" dirty="0">
                <a:solidFill>
                  <a:schemeClr val="accent2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85" name="Text 5"/>
            <p:cNvSpPr/>
            <p:nvPr/>
          </p:nvSpPr>
          <p:spPr>
            <a:xfrm>
              <a:off x="5070744" y="1063237"/>
              <a:ext cx="2917380" cy="310896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 err="1" smtClean="0"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rPr>
                <a:t>DarkThemeFactory</a:t>
              </a:r>
              <a:endParaRPr lang="en-US" sz="1600" b="1" dirty="0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cxnSp>
        <p:nvCxnSpPr>
          <p:cNvPr id="87" name="Elbow Connector 86"/>
          <p:cNvCxnSpPr>
            <a:stCxn id="77" idx="0"/>
            <a:endCxn id="72" idx="2"/>
          </p:cNvCxnSpPr>
          <p:nvPr/>
        </p:nvCxnSpPr>
        <p:spPr>
          <a:xfrm rot="5400000" flipH="1" flipV="1">
            <a:off x="4651584" y="2162763"/>
            <a:ext cx="668984" cy="150875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>
            <a:stCxn id="83" idx="0"/>
            <a:endCxn id="72" idx="2"/>
          </p:cNvCxnSpPr>
          <p:nvPr/>
        </p:nvCxnSpPr>
        <p:spPr>
          <a:xfrm rot="16200000" flipV="1">
            <a:off x="6275848" y="2047258"/>
            <a:ext cx="668984" cy="17397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0" name="Shape 16"/>
          <p:cNvSpPr/>
          <p:nvPr/>
        </p:nvSpPr>
        <p:spPr>
          <a:xfrm>
            <a:off x="2530013" y="2529654"/>
            <a:ext cx="983208" cy="357544"/>
          </a:xfrm>
          <a:prstGeom prst="roundRect">
            <a:avLst>
              <a:gd name="adj" fmla="val 17241"/>
            </a:avLst>
          </a:prstGeom>
          <a:solidFill>
            <a:srgbClr val="F7F7F7"/>
          </a:solidFill>
          <a:ln w="12700">
            <a:solidFill>
              <a:srgbClr val="5EEAD4"/>
            </a:solidFill>
            <a:prstDash val="solid"/>
          </a:ln>
          <a:effectLst>
            <a:outerShdw blurRad="101600" dist="25400" dir="9000000" algn="bl" rotWithShape="0">
              <a:srgbClr val="1A1A2E">
                <a:alpha val="5000"/>
              </a:srgbClr>
            </a:outerShdw>
          </a:effectLst>
        </p:spPr>
      </p:sp>
      <p:sp>
        <p:nvSpPr>
          <p:cNvPr id="91" name="Text 17"/>
          <p:cNvSpPr/>
          <p:nvPr/>
        </p:nvSpPr>
        <p:spPr>
          <a:xfrm>
            <a:off x="2555500" y="2547737"/>
            <a:ext cx="9577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 smtClean="0">
                <a:solidFill>
                  <a:srgbClr val="0D9488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HomeController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cxnSp>
        <p:nvCxnSpPr>
          <p:cNvPr id="93" name="Elbow Connector 92"/>
          <p:cNvCxnSpPr>
            <a:stCxn id="90" idx="0"/>
            <a:endCxn id="72" idx="1"/>
          </p:cNvCxnSpPr>
          <p:nvPr/>
        </p:nvCxnSpPr>
        <p:spPr>
          <a:xfrm rot="5400000" flipH="1" flipV="1">
            <a:off x="3382275" y="1680234"/>
            <a:ext cx="488763" cy="12100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/>
          <p:cNvCxnSpPr>
            <a:stCxn id="18" idx="0"/>
            <a:endCxn id="114" idx="2"/>
          </p:cNvCxnSpPr>
          <p:nvPr/>
        </p:nvCxnSpPr>
        <p:spPr>
          <a:xfrm rot="16200000" flipV="1">
            <a:off x="1311314" y="1668592"/>
            <a:ext cx="449672" cy="610530"/>
          </a:xfrm>
          <a:prstGeom prst="bentConnector3">
            <a:avLst>
              <a:gd name="adj1" fmla="val 3779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/>
          <p:cNvCxnSpPr>
            <a:stCxn id="51" idx="0"/>
            <a:endCxn id="127" idx="2"/>
          </p:cNvCxnSpPr>
          <p:nvPr/>
        </p:nvCxnSpPr>
        <p:spPr>
          <a:xfrm rot="16200000" flipV="1">
            <a:off x="1303864" y="3544935"/>
            <a:ext cx="565042" cy="710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stCxn id="54" idx="0"/>
            <a:endCxn id="127" idx="2"/>
          </p:cNvCxnSpPr>
          <p:nvPr/>
        </p:nvCxnSpPr>
        <p:spPr>
          <a:xfrm rot="5400000" flipH="1" flipV="1">
            <a:off x="648622" y="3600693"/>
            <a:ext cx="565042" cy="5994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2981" y="1810902"/>
            <a:ext cx="7938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>
                <a:latin typeface="Bahnschrift" panose="020B0502040204020203" pitchFamily="34" charset="0"/>
                <a:cs typeface="Cascadia Code" panose="020B0609020000020004" pitchFamily="49" charset="0"/>
              </a:rPr>
              <a:t>implements</a:t>
            </a:r>
            <a:endParaRPr lang="en-US" sz="900" dirty="0">
              <a:latin typeface="Bahnschrift" panose="020B0502040204020203" pitchFamily="34" charset="0"/>
              <a:cs typeface="Cascadia Code" panose="020B0609020000020004" pitchFamily="49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444511" y="1810060"/>
            <a:ext cx="7938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>
                <a:latin typeface="Bahnschrift" panose="020B0502040204020203" pitchFamily="34" charset="0"/>
                <a:cs typeface="Cascadia Code" panose="020B0609020000020004" pitchFamily="49" charset="0"/>
              </a:rPr>
              <a:t>implements</a:t>
            </a:r>
            <a:endParaRPr lang="en-US" sz="900" dirty="0">
              <a:latin typeface="Bahnschrift" panose="020B0502040204020203" pitchFamily="34" charset="0"/>
              <a:cs typeface="Cascadia Code" panose="020B0609020000020004" pitchFamily="49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252796" y="3681814"/>
            <a:ext cx="7938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>
                <a:latin typeface="Bahnschrift" panose="020B0502040204020203" pitchFamily="34" charset="0"/>
                <a:cs typeface="Cascadia Code" panose="020B0609020000020004" pitchFamily="49" charset="0"/>
              </a:rPr>
              <a:t>implements</a:t>
            </a:r>
            <a:endParaRPr lang="en-US" sz="900" dirty="0">
              <a:latin typeface="Bahnschrift" panose="020B0502040204020203" pitchFamily="34" charset="0"/>
              <a:cs typeface="Cascadia Code" panose="020B0609020000020004" pitchFamily="49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573300" y="3675235"/>
            <a:ext cx="7938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>
                <a:latin typeface="Bahnschrift" panose="020B0502040204020203" pitchFamily="34" charset="0"/>
                <a:cs typeface="Cascadia Code" panose="020B0609020000020004" pitchFamily="49" charset="0"/>
              </a:rPr>
              <a:t>implements</a:t>
            </a:r>
            <a:endParaRPr lang="en-US" sz="900" dirty="0">
              <a:latin typeface="Bahnschrift" panose="020B0502040204020203" pitchFamily="34" charset="0"/>
              <a:cs typeface="Cascadia Code" panose="020B0609020000020004" pitchFamily="49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352032" y="2677123"/>
            <a:ext cx="7938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>
                <a:latin typeface="Bahnschrift" panose="020B0502040204020203" pitchFamily="34" charset="0"/>
                <a:cs typeface="Cascadia Code" panose="020B0609020000020004" pitchFamily="49" charset="0"/>
              </a:rPr>
              <a:t>implements</a:t>
            </a:r>
            <a:endParaRPr lang="en-US" sz="900" dirty="0">
              <a:latin typeface="Bahnschrift" panose="020B0502040204020203" pitchFamily="34" charset="0"/>
              <a:cs typeface="Cascadia Code" panose="020B0609020000020004" pitchFamily="49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6335073" y="2677123"/>
            <a:ext cx="7938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>
                <a:latin typeface="Bahnschrift" panose="020B0502040204020203" pitchFamily="34" charset="0"/>
                <a:cs typeface="Cascadia Code" panose="020B0609020000020004" pitchFamily="49" charset="0"/>
              </a:rPr>
              <a:t>implements</a:t>
            </a:r>
            <a:endParaRPr lang="en-US" sz="900" dirty="0">
              <a:latin typeface="Bahnschrift" panose="020B0502040204020203" pitchFamily="34" charset="0"/>
              <a:cs typeface="Cascadia Code" panose="020B0609020000020004" pitchFamily="49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3290930" y="1807486"/>
            <a:ext cx="370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>
                <a:latin typeface="Bahnschrift" panose="020B0502040204020203" pitchFamily="34" charset="0"/>
                <a:cs typeface="Cascadia Code" panose="020B0609020000020004" pitchFamily="49" charset="0"/>
              </a:rPr>
              <a:t>use</a:t>
            </a:r>
            <a:endParaRPr lang="en-US" sz="900" dirty="0">
              <a:latin typeface="Bahnschrift" panose="020B0502040204020203" pitchFamily="34" charset="0"/>
              <a:cs typeface="Cascadia Code" panose="020B0609020000020004" pitchFamily="49" charset="0"/>
            </a:endParaRPr>
          </a:p>
        </p:txBody>
      </p:sp>
      <p:grpSp>
        <p:nvGrpSpPr>
          <p:cNvPr id="116" name="Group 115"/>
          <p:cNvGrpSpPr/>
          <p:nvPr/>
        </p:nvGrpSpPr>
        <p:grpSpPr>
          <a:xfrm>
            <a:off x="519885" y="926576"/>
            <a:ext cx="1422000" cy="822445"/>
            <a:chOff x="639210" y="941932"/>
            <a:chExt cx="1181970" cy="822445"/>
          </a:xfrm>
        </p:grpSpPr>
        <p:grpSp>
          <p:nvGrpSpPr>
            <p:cNvPr id="36" name="Group 35"/>
            <p:cNvGrpSpPr/>
            <p:nvPr/>
          </p:nvGrpSpPr>
          <p:grpSpPr>
            <a:xfrm>
              <a:off x="639210" y="941932"/>
              <a:ext cx="1181970" cy="420624"/>
              <a:chOff x="1106557" y="1792224"/>
              <a:chExt cx="914400" cy="420624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1106557" y="1792224"/>
                <a:ext cx="914400" cy="420624"/>
              </a:xfrm>
              <a:prstGeom prst="rect">
                <a:avLst/>
              </a:prstGeom>
              <a:solidFill>
                <a:srgbClr val="EEF2FF"/>
              </a:solidFill>
              <a:ln w="12700">
                <a:solidFill>
                  <a:srgbClr val="C7D2FE"/>
                </a:solidFill>
                <a:prstDash val="solid"/>
              </a:ln>
              <a:effectLst>
                <a:outerShdw blurRad="101600" dist="25400" dir="9000000" algn="bl" rotWithShape="0">
                  <a:srgbClr val="1A1A2E">
                    <a:alpha val="5000"/>
                  </a:srgbClr>
                </a:outerShdw>
              </a:effectLst>
            </p:spPr>
          </p:sp>
          <p:sp>
            <p:nvSpPr>
              <p:cNvPr id="27" name="Text 25"/>
              <p:cNvSpPr/>
              <p:nvPr/>
            </p:nvSpPr>
            <p:spPr>
              <a:xfrm>
                <a:off x="1138893" y="1828800"/>
                <a:ext cx="849728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i="1" dirty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«interface»  </a:t>
                </a:r>
                <a:endParaRPr lang="en-US" sz="1000" i="1" dirty="0" smtClean="0">
                  <a:solidFill>
                    <a:srgbClr val="4F46E5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1000" i="1" dirty="0" err="1" smtClean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IButton</a:t>
                </a:r>
                <a:endParaRPr lang="en-US" sz="1000" dirty="0">
                  <a:latin typeface="Bahnschrift" panose="020B0502040204020203" pitchFamily="34" charset="0"/>
                </a:endParaRP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639210" y="1343753"/>
              <a:ext cx="1181970" cy="420624"/>
              <a:chOff x="1106557" y="1792224"/>
              <a:chExt cx="914400" cy="420624"/>
            </a:xfrm>
          </p:grpSpPr>
          <p:sp>
            <p:nvSpPr>
              <p:cNvPr id="114" name="Shape 24"/>
              <p:cNvSpPr/>
              <p:nvPr/>
            </p:nvSpPr>
            <p:spPr>
              <a:xfrm>
                <a:off x="1106557" y="1792224"/>
                <a:ext cx="914400" cy="420624"/>
              </a:xfrm>
              <a:prstGeom prst="rect">
                <a:avLst/>
              </a:prstGeom>
              <a:solidFill>
                <a:srgbClr val="EEF2FF"/>
              </a:solidFill>
              <a:ln w="12700">
                <a:solidFill>
                  <a:srgbClr val="C7D2FE"/>
                </a:solidFill>
                <a:prstDash val="solid"/>
              </a:ln>
              <a:effectLst>
                <a:outerShdw blurRad="101600" dist="25400" dir="9000000" algn="bl" rotWithShape="0">
                  <a:srgbClr val="1A1A2E">
                    <a:alpha val="5000"/>
                  </a:srgbClr>
                </a:outerShdw>
              </a:effectLst>
            </p:spPr>
          </p:sp>
          <p:sp>
            <p:nvSpPr>
              <p:cNvPr id="115" name="Text 25"/>
              <p:cNvSpPr/>
              <p:nvPr/>
            </p:nvSpPr>
            <p:spPr>
              <a:xfrm>
                <a:off x="1138893" y="1828800"/>
                <a:ext cx="849728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dirty="0" smtClean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+ </a:t>
                </a:r>
                <a:r>
                  <a:rPr lang="en-US" sz="900" dirty="0" err="1" smtClean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CssClass</a:t>
                </a:r>
                <a:r>
                  <a:rPr lang="en-US" sz="900" dirty="0" smtClean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 : </a:t>
                </a:r>
                <a:r>
                  <a:rPr lang="en-US" sz="900" dirty="0" smtClean="0">
                    <a:solidFill>
                      <a:schemeClr val="accent2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string</a:t>
                </a:r>
              </a:p>
              <a:p>
                <a:pPr marL="0" indent="0">
                  <a:buNone/>
                </a:pPr>
                <a:r>
                  <a:rPr lang="en-US" sz="900" dirty="0" smtClean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+ Label : </a:t>
                </a:r>
                <a:r>
                  <a:rPr lang="en-US" sz="900" dirty="0" smtClean="0">
                    <a:solidFill>
                      <a:schemeClr val="accent2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String</a:t>
                </a:r>
                <a:endParaRPr lang="en-US" sz="900" dirty="0">
                  <a:solidFill>
                    <a:schemeClr val="accent2"/>
                  </a:solidFill>
                  <a:latin typeface="Bahnschrift" panose="020B0502040204020203" pitchFamily="34" charset="0"/>
                </a:endParaRPr>
              </a:p>
            </p:txBody>
          </p:sp>
        </p:grpSp>
      </p:grpSp>
      <p:grpSp>
        <p:nvGrpSpPr>
          <p:cNvPr id="124" name="Group 123"/>
          <p:cNvGrpSpPr/>
          <p:nvPr/>
        </p:nvGrpSpPr>
        <p:grpSpPr>
          <a:xfrm>
            <a:off x="519885" y="2795469"/>
            <a:ext cx="1422000" cy="822445"/>
            <a:chOff x="639210" y="941932"/>
            <a:chExt cx="1181970" cy="822445"/>
          </a:xfrm>
        </p:grpSpPr>
        <p:grpSp>
          <p:nvGrpSpPr>
            <p:cNvPr id="125" name="Group 124"/>
            <p:cNvGrpSpPr/>
            <p:nvPr/>
          </p:nvGrpSpPr>
          <p:grpSpPr>
            <a:xfrm>
              <a:off x="639210" y="941932"/>
              <a:ext cx="1181970" cy="420624"/>
              <a:chOff x="1106557" y="1792224"/>
              <a:chExt cx="914400" cy="420624"/>
            </a:xfrm>
          </p:grpSpPr>
          <p:sp>
            <p:nvSpPr>
              <p:cNvPr id="129" name="Shape 24"/>
              <p:cNvSpPr/>
              <p:nvPr/>
            </p:nvSpPr>
            <p:spPr>
              <a:xfrm>
                <a:off x="1106557" y="1792224"/>
                <a:ext cx="914400" cy="420624"/>
              </a:xfrm>
              <a:prstGeom prst="rect">
                <a:avLst/>
              </a:prstGeom>
              <a:solidFill>
                <a:srgbClr val="EEF2FF"/>
              </a:solidFill>
              <a:ln w="12700">
                <a:solidFill>
                  <a:srgbClr val="C7D2FE"/>
                </a:solidFill>
                <a:prstDash val="solid"/>
              </a:ln>
              <a:effectLst>
                <a:outerShdw blurRad="101600" dist="25400" dir="9000000" algn="bl" rotWithShape="0">
                  <a:srgbClr val="1A1A2E">
                    <a:alpha val="5000"/>
                  </a:srgbClr>
                </a:outerShdw>
              </a:effectLst>
            </p:spPr>
          </p:sp>
          <p:sp>
            <p:nvSpPr>
              <p:cNvPr id="130" name="Text 25"/>
              <p:cNvSpPr/>
              <p:nvPr/>
            </p:nvSpPr>
            <p:spPr>
              <a:xfrm>
                <a:off x="1138893" y="1828800"/>
                <a:ext cx="849728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i="1" dirty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«interface»  </a:t>
                </a:r>
                <a:endParaRPr lang="en-US" sz="1000" i="1" dirty="0" smtClean="0">
                  <a:solidFill>
                    <a:srgbClr val="4F46E5"/>
                  </a:solidFill>
                  <a:latin typeface="Bahnschrift" panose="020B0502040204020203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1000" i="1" dirty="0" err="1" smtClean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ICheckbox</a:t>
                </a:r>
                <a:endParaRPr lang="en-US" sz="1000" dirty="0">
                  <a:latin typeface="Bahnschrift" panose="020B0502040204020203" pitchFamily="34" charset="0"/>
                </a:endParaRP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639210" y="1343753"/>
              <a:ext cx="1181970" cy="420624"/>
              <a:chOff x="1106557" y="1792224"/>
              <a:chExt cx="914400" cy="420624"/>
            </a:xfrm>
          </p:grpSpPr>
          <p:sp>
            <p:nvSpPr>
              <p:cNvPr id="127" name="Shape 24"/>
              <p:cNvSpPr/>
              <p:nvPr/>
            </p:nvSpPr>
            <p:spPr>
              <a:xfrm>
                <a:off x="1106557" y="1792224"/>
                <a:ext cx="914400" cy="420624"/>
              </a:xfrm>
              <a:prstGeom prst="rect">
                <a:avLst/>
              </a:prstGeom>
              <a:solidFill>
                <a:srgbClr val="EEF2FF"/>
              </a:solidFill>
              <a:ln w="12700">
                <a:solidFill>
                  <a:srgbClr val="C7D2FE"/>
                </a:solidFill>
                <a:prstDash val="solid"/>
              </a:ln>
              <a:effectLst>
                <a:outerShdw blurRad="101600" dist="25400" dir="9000000" algn="bl" rotWithShape="0">
                  <a:srgbClr val="1A1A2E">
                    <a:alpha val="5000"/>
                  </a:srgbClr>
                </a:outerShdw>
              </a:effectLst>
            </p:spPr>
          </p:sp>
          <p:sp>
            <p:nvSpPr>
              <p:cNvPr id="128" name="Text 25"/>
              <p:cNvSpPr/>
              <p:nvPr/>
            </p:nvSpPr>
            <p:spPr>
              <a:xfrm>
                <a:off x="1138893" y="1828800"/>
                <a:ext cx="849728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dirty="0" smtClean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+ </a:t>
                </a:r>
                <a:r>
                  <a:rPr lang="en-US" sz="900" dirty="0" err="1" smtClean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CssClass</a:t>
                </a:r>
                <a:r>
                  <a:rPr lang="en-US" sz="900" dirty="0" smtClean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 : </a:t>
                </a:r>
                <a:r>
                  <a:rPr lang="en-US" sz="900" dirty="0" smtClean="0">
                    <a:solidFill>
                      <a:schemeClr val="accent2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string</a:t>
                </a:r>
              </a:p>
              <a:p>
                <a:pPr marL="0" indent="0">
                  <a:buNone/>
                </a:pPr>
                <a:r>
                  <a:rPr lang="en-US" sz="900" dirty="0" smtClean="0">
                    <a:solidFill>
                      <a:srgbClr val="4F46E5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+ Label : </a:t>
                </a:r>
                <a:r>
                  <a:rPr lang="en-US" sz="900" dirty="0" smtClean="0">
                    <a:solidFill>
                      <a:schemeClr val="accent2"/>
                    </a:solidFill>
                    <a:latin typeface="Bahnschrift" panose="020B0502040204020203" pitchFamily="34" charset="0"/>
                    <a:ea typeface="Calibri" pitchFamily="34" charset="-122"/>
                    <a:cs typeface="Calibri" pitchFamily="34" charset="-120"/>
                  </a:rPr>
                  <a:t>String</a:t>
                </a:r>
                <a:endParaRPr lang="en-US" sz="900" dirty="0">
                  <a:solidFill>
                    <a:schemeClr val="accent2"/>
                  </a:solidFill>
                  <a:latin typeface="Bahnschrift" panose="020B0502040204020203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106" grpId="0"/>
      <p:bldP spid="107" grpId="0"/>
      <p:bldP spid="108" grpId="0"/>
      <p:bldP spid="109" grpId="0"/>
      <p:bldP spid="110" grpId="0"/>
      <p:bldP spid="111" grpId="0"/>
      <p:bldP spid="1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LAYOUT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1A1A2E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3200" b="1" dirty="0">
                <a:solidFill>
                  <a:srgbClr val="1A1A2E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3200" b="1" dirty="0" smtClean="0">
                <a:solidFill>
                  <a:srgbClr val="1A1A2E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rojects</a:t>
            </a:r>
            <a:endParaRPr lang="en-US" sz="3200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9768" y="1101852"/>
            <a:ext cx="8138160" cy="10973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67968"/>
            <a:ext cx="2633472" cy="3310128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5240">
            <a:solidFill>
              <a:srgbClr val="C7D2FE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67968"/>
            <a:ext cx="2633472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3959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" y="1780032"/>
            <a:ext cx="1320394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780032"/>
            <a:ext cx="13203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Library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" y="212750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only. No concrete classes.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" y="2712720"/>
            <a:ext cx="2331720" cy="9144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407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Factories/IThemeFactory.cs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" y="3224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Products/IButton.cs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3608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Products/ICheckbox.cs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267968"/>
            <a:ext cx="2633472" cy="3310128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5240">
            <a:solidFill>
              <a:srgbClr val="5EEAD4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267968"/>
            <a:ext cx="26334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3959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56432" y="1780032"/>
            <a:ext cx="1320394" cy="256032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1780032"/>
            <a:ext cx="13203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Library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56432" y="212750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implementations.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Core contracts.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56432" y="2712720"/>
            <a:ext cx="2331720" cy="9144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8407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Factories/DarkThemeFactory.cs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93008" y="3224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Factories/LightThemeFactory.cs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93008" y="3608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Products/Dark*.cs  /  Light*.cs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1267968"/>
            <a:ext cx="2633472" cy="3310128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5240">
            <a:solidFill>
              <a:srgbClr val="DDD6FE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267968"/>
            <a:ext cx="26334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13959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45352" y="1780032"/>
            <a:ext cx="1159459" cy="25603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1780032"/>
            <a:ext cx="11594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MVC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45352" y="212750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app. Talks </a:t>
            </a:r>
            <a:r>
              <a:rPr lang="en-US" sz="1150" dirty="0" smtClean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en-US" sz="1150" dirty="0"/>
              <a:t> </a:t>
            </a:r>
            <a:r>
              <a:rPr lang="en-US" sz="1150" dirty="0" smtClean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</a:t>
            </a:r>
            <a:r>
              <a:rPr lang="en-US" sz="115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45352" y="2712720"/>
            <a:ext cx="2331720" cy="9144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28407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81928" y="3224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Controllers/HomeController.cs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81928" y="3608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Views/Home/Index.cshtml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88720" y="4340352"/>
            <a:ext cx="6766560" cy="301752"/>
          </a:xfrm>
          <a:prstGeom prst="roundRect">
            <a:avLst>
              <a:gd name="adj" fmla="val 30303"/>
            </a:avLst>
          </a:prstGeom>
          <a:solidFill>
            <a:srgbClr val="F7F8FC"/>
          </a:solidFill>
          <a:ln w="9525">
            <a:solidFill>
              <a:srgbClr val="E4E6EF"/>
            </a:solidFill>
            <a:prstDash val="solid"/>
          </a:ln>
          <a:effectLst>
            <a:outerShdw blurRad="101600" dist="25400" dir="9000000" algn="bl" rotWithShape="0">
              <a:srgbClr val="1A1A2E">
                <a:alpha val="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188720" y="4349496"/>
            <a:ext cx="6766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  ←   Infrastructure   ←   Web   (project references, left to right)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4  ·  </a:t>
            </a:r>
            <a:r>
              <a:rPr lang="en-US" sz="900" b="1" kern="0" spc="250" dirty="0" smtClean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Define the Interfaces</a:t>
            </a:r>
            <a:endParaRPr lang="en-US" sz="3200" dirty="0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smtClean="0">
                <a:solidFill>
                  <a:srgbClr val="9394A8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9580" y="1154886"/>
            <a:ext cx="8138160" cy="10973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67028"/>
            <a:ext cx="4663440" cy="3182112"/>
          </a:xfrm>
          <a:prstGeom prst="roundRect">
            <a:avLst>
              <a:gd name="adj" fmla="val 2778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67028"/>
            <a:ext cx="4663440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58468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458468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458468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14218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IThemeFactory.cs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696212"/>
            <a:ext cx="434340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namespace </a:t>
            </a:r>
            <a:r>
              <a:rPr lang="en-US" sz="1200" dirty="0" err="1" smtClean="0">
                <a:solidFill>
                  <a:srgbClr val="1D4ED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Core.Contracts.Factories</a:t>
            </a:r>
            <a:r>
              <a:rPr lang="en-US" sz="1200" dirty="0">
                <a:solidFill>
                  <a:srgbClr val="1D4ED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;
</a:t>
            </a: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public interface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IThemeFactory
{
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</a:t>
            </a:r>
            <a:r>
              <a:rPr lang="en-US" sz="1200" dirty="0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string </a:t>
            </a:r>
            <a:r>
              <a:rPr lang="en-US" sz="1200" dirty="0" err="1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ThemeName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{ get; </a:t>
            </a:r>
            <a:r>
              <a:rPr lang="en-US" sz="1200" dirty="0" smtClean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</a:p>
          <a:p>
            <a:pPr marL="0" indent="0">
              <a:buNone/>
            </a:pP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IButton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 err="1" smtClean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CreateButton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();
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ICheckbox 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CreateCheckbox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();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40680" y="1367028"/>
            <a:ext cx="3200400" cy="1572768"/>
          </a:xfrm>
          <a:prstGeom prst="roundRect">
            <a:avLst>
              <a:gd name="adj" fmla="val 5814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40680" y="1367028"/>
            <a:ext cx="3200400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96128" y="1458468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97296" y="1458468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98464" y="1458468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4218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IButton.cs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23560" y="1696212"/>
            <a:ext cx="2880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public interface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IButton
{
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string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Label    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{ get; }
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string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CssClass 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{ get; 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40680" y="3104388"/>
            <a:ext cx="3200400" cy="1388364"/>
          </a:xfrm>
          <a:prstGeom prst="roundRect">
            <a:avLst>
              <a:gd name="adj" fmla="val 5814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40680" y="3104388"/>
            <a:ext cx="3200400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96128" y="3195828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7296" y="3195828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8464" y="3195828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31592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ICheckbox.cs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3433572"/>
            <a:ext cx="2880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public interface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ICheckbox
{
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string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Label    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{ get; }
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string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CssClass 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{ get; 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2920" y="4683252"/>
            <a:ext cx="8138160" cy="301752"/>
          </a:xfrm>
          <a:prstGeom prst="roundRect">
            <a:avLst>
              <a:gd name="adj" fmla="val 30303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  <a:effectLst>
            <a:outerShdw blurRad="101600" dist="25400" dir="9000000" algn="bl" rotWithShape="0">
              <a:srgbClr val="1A1A2E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4684166"/>
            <a:ext cx="50292" cy="299923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701540"/>
            <a:ext cx="7680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references nothing </a:t>
            </a:r>
            <a:r>
              <a:rPr lang="en-US" sz="1150" dirty="0" smtClean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pure, dependency-free contract layer.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74320"/>
            <a:ext cx="88163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4  ·  </a:t>
            </a:r>
            <a:r>
              <a:rPr lang="en-US" sz="900" b="1" kern="0" spc="250" dirty="0" smtClean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90500" y="502920"/>
            <a:ext cx="8816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Concrete Products</a:t>
            </a:r>
            <a:endParaRPr lang="en-US" sz="3200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0499" y="1104443"/>
            <a:ext cx="8718381" cy="10973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500" y="1382268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0500" y="1382268"/>
            <a:ext cx="4297680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" y="1473708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4256" y="1473708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5424" y="1473708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7448" y="143713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DarkButton.cs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1940" y="1711452"/>
            <a:ext cx="41452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public class 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DarkButton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: 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IButton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{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string 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Label </a:t>
            </a:r>
            <a:r>
              <a:rPr lang="en-US" sz="1200" dirty="0" smtClean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=&gt; </a:t>
            </a:r>
            <a:r>
              <a:rPr lang="en-US" sz="1200" dirty="0" smtClean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"Dark Button";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string CssClass 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=&gt; </a:t>
            </a:r>
            <a:r>
              <a:rPr lang="en-US" sz="1200" dirty="0" smtClean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"</a:t>
            </a:r>
            <a:r>
              <a:rPr lang="en-US" sz="1200" dirty="0" err="1" smtClean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btn</a:t>
            </a:r>
            <a:r>
              <a:rPr lang="en-US" sz="1200" dirty="0" smtClean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 err="1" smtClean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btn</a:t>
            </a:r>
            <a:r>
              <a:rPr lang="en-US" sz="1200" dirty="0" smtClean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-dark";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97908" y="1382268"/>
            <a:ext cx="4408932" cy="1417320"/>
          </a:xfrm>
          <a:prstGeom prst="roundRect">
            <a:avLst>
              <a:gd name="adj" fmla="val 6452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7908" y="1382268"/>
            <a:ext cx="4271772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7448" y="1473708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28616" y="1473708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9784" y="1473708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143713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DarkCheckbox.cs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703832"/>
            <a:ext cx="43434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public class 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DarkCheckbox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: 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ICheckbox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{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public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string 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Label</a:t>
            </a:r>
            <a:r>
              <a:rPr lang="en-US" sz="1200" dirty="0" smtClean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=&gt; 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"Dark Checkbox";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public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string </a:t>
            </a:r>
            <a:r>
              <a:rPr lang="en-US" sz="1200" dirty="0" err="1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CssClass</a:t>
            </a:r>
            <a:r>
              <a:rPr lang="en-US" sz="1200" dirty="0" smtClean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=&gt; 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"form-check </a:t>
            </a:r>
            <a:r>
              <a:rPr lang="en-US" sz="1200" dirty="0" smtClean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dark-	check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";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90500" y="2991612"/>
            <a:ext cx="4297680" cy="1525524"/>
          </a:xfrm>
          <a:prstGeom prst="roundRect">
            <a:avLst>
              <a:gd name="adj" fmla="val 6452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0500" y="2991612"/>
            <a:ext cx="4297680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" y="3083052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" y="3083052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" y="3083052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04647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LightButton.cs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1940" y="3320795"/>
            <a:ext cx="4069080" cy="1098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public class LightButton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: 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IButton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{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string Label </a:t>
            </a:r>
            <a:r>
              <a:rPr lang="en-US" sz="1200" dirty="0" smtClean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=&gt; 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"Light Button";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string CssClass 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=&gt; 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"btn </a:t>
            </a:r>
            <a:r>
              <a:rPr lang="en-US" sz="1200" dirty="0" err="1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btn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-light </a:t>
            </a:r>
            <a:r>
              <a:rPr lang="en-US" sz="1200" dirty="0" smtClean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	border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";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97908" y="2991612"/>
            <a:ext cx="4408932" cy="1525524"/>
          </a:xfrm>
          <a:prstGeom prst="roundRect">
            <a:avLst>
              <a:gd name="adj" fmla="val 6452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7908" y="2991612"/>
            <a:ext cx="4408932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5068" y="3083052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6236" y="3083052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37404" y="3083052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9428" y="304647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LightCheckbox.cs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320796"/>
            <a:ext cx="4343400" cy="107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public class LightCheckbox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: 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ICheckbox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{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string 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Label </a:t>
            </a:r>
            <a:r>
              <a:rPr lang="en-US" sz="1200" dirty="0" smtClean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=&gt; 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"Light Checkbox";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string CssClass 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=&gt; 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"form-check </a:t>
            </a:r>
            <a:r>
              <a:rPr lang="en-US" sz="1200" dirty="0" smtClean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	light-check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";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4320" y="4608576"/>
            <a:ext cx="8732520" cy="265176"/>
          </a:xfrm>
          <a:prstGeom prst="roundRect">
            <a:avLst>
              <a:gd name="adj" fmla="val 34483"/>
            </a:avLst>
          </a:prstGeom>
          <a:solidFill>
            <a:srgbClr val="F0FDFA"/>
          </a:solidFill>
          <a:ln w="9525">
            <a:solidFill>
              <a:srgbClr val="5EEAD4"/>
            </a:solidFill>
            <a:prstDash val="solid"/>
          </a:ln>
          <a:effectLst>
            <a:outerShdw blurRad="101600" dist="25400" dir="9000000" algn="bl" rotWithShape="0">
              <a:srgbClr val="1A1A2E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19" y="4609490"/>
            <a:ext cx="53965" cy="26334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7" y="4617720"/>
            <a:ext cx="824192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is tiny </a:t>
            </a:r>
            <a:r>
              <a:rPr lang="en-US" sz="1150" dirty="0" smtClean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two properties. The power comes from the factory that combines them.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4  ·  </a:t>
            </a:r>
            <a:r>
              <a:rPr lang="en-US" sz="900" b="1" kern="0" spc="250" dirty="0" smtClean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Concrete Factories</a:t>
            </a:r>
            <a:endParaRPr lang="en-US" sz="3200" dirty="0">
              <a:latin typeface="Bahnschrift SemiBold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5488" y="1132332"/>
            <a:ext cx="8138160" cy="10973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13688"/>
            <a:ext cx="4041648" cy="2962656"/>
          </a:xfrm>
          <a:prstGeom prst="roundRect">
            <a:avLst>
              <a:gd name="adj" fmla="val 3086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13688"/>
            <a:ext cx="4041648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05128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405128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405128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1368552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DarkThemeFactory.cs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1642872"/>
            <a:ext cx="372160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public class </a:t>
            </a:r>
            <a:r>
              <a:rPr lang="en-US" sz="1200" dirty="0" err="1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DarkThemeFactory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endParaRPr lang="en-US" sz="1200" dirty="0" smtClean="0">
              <a:solidFill>
                <a:srgbClr val="0D9488"/>
              </a:solidFill>
              <a:latin typeface="Cascadia Code" panose="020B0609020000020004" pitchFamily="49" charset="0"/>
              <a:ea typeface="Courier New" pitchFamily="34" charset="-122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</a:t>
            </a:r>
            <a:r>
              <a:rPr lang="en-US" sz="1200" dirty="0" smtClean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: </a:t>
            </a:r>
            <a:r>
              <a:rPr lang="en-US" sz="1200" dirty="0" err="1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IThemeFactory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{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string </a:t>
            </a:r>
            <a:r>
              <a:rPr lang="en-US" sz="1200" dirty="0" err="1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ThemeName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
</a:t>
            </a:r>
            <a:r>
              <a:rPr lang="en-US" sz="1200" dirty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    =&gt; "Dark";
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IButton 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CreateButton
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    =&gt; new 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DarkButton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();
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ICheckbox 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CreateCheckbox
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    =&gt; new 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DarkCheckbox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();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82312" y="1313688"/>
            <a:ext cx="3858768" cy="2962656"/>
          </a:xfrm>
          <a:prstGeom prst="roundRect">
            <a:avLst>
              <a:gd name="adj" fmla="val 3086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82312" y="1313688"/>
            <a:ext cx="3858768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405128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38928" y="1405128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0096" y="1405128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368552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LightThemeFactory.cs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65192" y="1642872"/>
            <a:ext cx="353872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public class LightThemeFactory
</a:t>
            </a: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: 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IThemeFactory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{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string </a:t>
            </a:r>
            <a:r>
              <a:rPr lang="en-US" sz="1200" dirty="0" err="1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ThemeName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
</a:t>
            </a:r>
            <a:r>
              <a:rPr lang="en-US" sz="1200" dirty="0" smtClean="0">
                <a:solidFill>
                  <a:srgbClr val="16A34A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    =&gt; "Light";
</a:t>
            </a:r>
            <a:r>
              <a:rPr lang="en-US" sz="1200" dirty="0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</a:t>
            </a:r>
            <a:r>
              <a:rPr lang="en-US" sz="1200" dirty="0" err="1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IButton</a:t>
            </a:r>
            <a:r>
              <a:rPr lang="en-US" sz="1200" dirty="0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 err="1" smtClean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CreateButton</a:t>
            </a:r>
            <a:r>
              <a:rPr lang="en-US" sz="1200" dirty="0" smtClean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
</a:t>
            </a:r>
            <a:r>
              <a:rPr lang="en-US" sz="1200" dirty="0" smtClean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    =&gt; new </a:t>
            </a:r>
            <a:r>
              <a:rPr lang="en-US" sz="1200" dirty="0" err="1" smtClean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LightButton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();
</a:t>
            </a:r>
            <a:r>
              <a:rPr lang="en-US" sz="1200" dirty="0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</a:t>
            </a:r>
            <a:r>
              <a:rPr lang="en-US" sz="1200" dirty="0" err="1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ICheckbox</a:t>
            </a:r>
            <a:r>
              <a:rPr lang="en-US" sz="1200" dirty="0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 err="1" smtClean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CreateCheckbox</a:t>
            </a:r>
            <a:r>
              <a:rPr lang="en-US" sz="1200" dirty="0" smtClean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
</a:t>
            </a:r>
            <a:r>
              <a:rPr lang="en-US" sz="1200" dirty="0" smtClean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    =&gt; new </a:t>
            </a:r>
            <a:r>
              <a:rPr lang="en-US" sz="1200" dirty="0" err="1" smtClean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LightCheckbox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();</a:t>
            </a:r>
            <a:endParaRPr lang="en-US" sz="1200" dirty="0" smtClean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" y="4404360"/>
            <a:ext cx="8138160" cy="301752"/>
          </a:xfrm>
          <a:prstGeom prst="roundRect">
            <a:avLst>
              <a:gd name="adj" fmla="val 30303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  <a:effectLst>
            <a:outerShdw blurRad="101600" dist="25400" dir="9000000" algn="bl" rotWithShape="0">
              <a:srgbClr val="1A1A2E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405274"/>
            <a:ext cx="50292" cy="29992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422648"/>
            <a:ext cx="7680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factory only creates Dark products. Light factory only creates Light products. Never mixed.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4  ·  </a:t>
            </a:r>
            <a:r>
              <a:rPr lang="en-US" sz="900" b="1" kern="0" spc="250" dirty="0" smtClean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Register &amp; Inject</a:t>
            </a:r>
            <a:endParaRPr lang="en-US" sz="3200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99466" y="1062990"/>
            <a:ext cx="8138160" cy="10973"/>
          </a:xfrm>
          <a:prstGeom prst="rect">
            <a:avLst/>
          </a:prstGeom>
          <a:solidFill>
            <a:srgbClr val="E4E6E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18260"/>
            <a:ext cx="4041648" cy="1719072"/>
          </a:xfrm>
          <a:prstGeom prst="roundRect">
            <a:avLst>
              <a:gd name="adj" fmla="val 5319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18260"/>
            <a:ext cx="4041648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409700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1409700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1409700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37312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647444"/>
            <a:ext cx="3721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394A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// One line controls the whole theme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builder.Services
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.AddScoped&lt;
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    IThemeFactory,
        DarkThemeFactory
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&gt;();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3165348"/>
            <a:ext cx="4041648" cy="1298448"/>
          </a:xfrm>
          <a:prstGeom prst="roundRect">
            <a:avLst>
              <a:gd name="adj" fmla="val 7042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  <a:effectLst>
            <a:outerShdw blurRad="101600" dist="25400" dir="9000000" algn="bl" rotWithShape="0">
              <a:srgbClr val="1A1A2E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66262"/>
            <a:ext cx="50292" cy="129661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2750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⚡  One-Line Theme Swap</a:t>
            </a:r>
            <a:endParaRPr lang="en-US" sz="1300" dirty="0">
              <a:latin typeface="Bahnschrift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1208" y="36042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56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Change DarkThemeFactory  →  LightThemeFactory</a:t>
            </a:r>
            <a:endParaRPr lang="en-US" sz="1250" dirty="0">
              <a:latin typeface="Bahnschrift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1208" y="39883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94A8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Zero other changes needed anywhere in the codebase.</a:t>
            </a:r>
            <a:endParaRPr lang="en-US" sz="1250" dirty="0">
              <a:latin typeface="Bahnschrift" panose="020B050204020402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53712" y="1318260"/>
            <a:ext cx="4475988" cy="3145536"/>
          </a:xfrm>
          <a:prstGeom prst="roundRect">
            <a:avLst>
              <a:gd name="adj" fmla="val 2907"/>
            </a:avLst>
          </a:prstGeom>
          <a:solidFill>
            <a:srgbClr val="F8F9FF"/>
          </a:solidFill>
          <a:ln w="9525">
            <a:solidFill>
              <a:srgbClr val="E4E6EF"/>
            </a:solidFill>
            <a:prstDash val="solid"/>
          </a:ln>
          <a:effectLst>
            <a:outerShdw blurRad="203200" dist="50800" dir="9000000" algn="bl" rotWithShape="0">
              <a:srgbClr val="1A1A2E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53712" y="1318260"/>
            <a:ext cx="4475988" cy="2743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409700"/>
            <a:ext cx="91440" cy="914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0328" y="1409700"/>
            <a:ext cx="91440" cy="91440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11496" y="1409700"/>
            <a:ext cx="91440" cy="9144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61C5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373124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HomeController.cs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40580" y="1647444"/>
            <a:ext cx="4328159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public class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HomeController
{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private </a:t>
            </a:r>
            <a:r>
              <a:rPr lang="en-US" sz="1200" dirty="0" err="1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readonly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 err="1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IThemeFactory</a:t>
            </a:r>
            <a:r>
              <a:rPr lang="en-US" sz="1200" dirty="0" smtClean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_f;
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HomeController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IThemeFactory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f)
    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	{ _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f = f; 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
</a:t>
            </a:r>
            <a:r>
              <a:rPr lang="en-US" sz="1200" dirty="0">
                <a:solidFill>
                  <a:srgbClr val="0D9488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public IActionResult 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Index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{
        ViewBag.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ThemeName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= _f.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ThemeName;
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    ViewBag.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Button  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= _f.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CreateButton();
 </a:t>
            </a:r>
            <a:r>
              <a:rPr lang="en-US" sz="1200" dirty="0" smtClean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  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 err="1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ViewBag.</a:t>
            </a:r>
            <a:r>
              <a:rPr lang="en-US" sz="1200" dirty="0" err="1" smtClean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Checkbox</a:t>
            </a:r>
            <a:r>
              <a:rPr lang="en-US" sz="1200" dirty="0" smtClean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= _</a:t>
            </a:r>
            <a:r>
              <a:rPr lang="en-US" sz="1200" dirty="0" err="1" smtClean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f.</a:t>
            </a:r>
            <a:r>
              <a:rPr lang="en-US" sz="1200" dirty="0" err="1" smtClean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CreateCheckbox</a:t>
            </a:r>
            <a:r>
              <a:rPr lang="en-US" sz="1200" dirty="0" smtClean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();</a:t>
            </a:r>
            <a:r>
              <a:rPr lang="en-US" sz="1200" dirty="0">
                <a:solidFill>
                  <a:srgbClr val="D97706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
</a:t>
            </a:r>
            <a:endParaRPr lang="en-US" sz="1200" dirty="0" smtClean="0">
              <a:solidFill>
                <a:srgbClr val="D97706"/>
              </a:solidFill>
              <a:latin typeface="Cascadia Code" panose="020B0609020000020004" pitchFamily="49" charset="0"/>
              <a:ea typeface="Courier New" pitchFamily="34" charset="-122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    </a:t>
            </a:r>
            <a:r>
              <a:rPr lang="en-US" sz="1200" dirty="0">
                <a:solidFill>
                  <a:srgbClr val="7C3AED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return </a:t>
            </a: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View();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    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scadia Code" panose="020B0609020000020004" pitchFamily="49" charset="0"/>
                <a:ea typeface="Courier New" pitchFamily="34" charset="-122"/>
                <a:cs typeface="Cascadia Code" panose="020B0609020000020004" pitchFamily="49" charset="0"/>
              </a:rPr>
              <a:t>}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490</Words>
  <Application>Microsoft Office PowerPoint</Application>
  <PresentationFormat>On-screen Show (16:9)</PresentationFormat>
  <Paragraphs>154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Bahnschrift</vt:lpstr>
      <vt:lpstr>Bahnschrift SemiBold</vt:lpstr>
      <vt:lpstr>Calibri</vt:lpstr>
      <vt:lpstr>Cambria</vt:lpstr>
      <vt:lpstr>Cascadia Code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S.R. Shuva Dev</cp:lastModifiedBy>
  <cp:revision>26</cp:revision>
  <dcterms:created xsi:type="dcterms:W3CDTF">2026-05-24T13:21:05Z</dcterms:created>
  <dcterms:modified xsi:type="dcterms:W3CDTF">2026-05-25T09:11:58Z</dcterms:modified>
</cp:coreProperties>
</file>